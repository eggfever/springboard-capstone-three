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9" r:id="rId5"/>
    <p:sldId id="259" r:id="rId6"/>
    <p:sldId id="261" r:id="rId7"/>
    <p:sldId id="271" r:id="rId8"/>
    <p:sldId id="272" r:id="rId9"/>
    <p:sldId id="260" r:id="rId10"/>
    <p:sldId id="273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86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83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05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602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44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799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60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029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989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91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4994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39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99849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257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023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75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90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2376" y="2249086"/>
            <a:ext cx="6620256" cy="1646302"/>
          </a:xfrm>
        </p:spPr>
        <p:txBody>
          <a:bodyPr/>
          <a:lstStyle/>
          <a:p>
            <a:r>
              <a:rPr sz="4400" dirty="0"/>
              <a:t>Hourly Traffic Volume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983437" cy="1096899"/>
          </a:xfrm>
        </p:spPr>
        <p:txBody>
          <a:bodyPr>
            <a:normAutofit/>
          </a:bodyPr>
          <a:lstStyle/>
          <a:p>
            <a:r>
              <a:rPr dirty="0"/>
              <a:t>Springboard Data Science Career Track – Capstone Three</a:t>
            </a:r>
          </a:p>
          <a:p>
            <a:r>
              <a:rPr dirty="0"/>
              <a:t>Forecasting hourly traffic using time-series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Urban traffic congestion creates operational, economic, and safety challenges.</a:t>
            </a:r>
          </a:p>
          <a:p>
            <a:r>
              <a:t>Traffic management teams need reliable short-term forecasts to allocate resources.</a:t>
            </a:r>
          </a:p>
          <a:p>
            <a:r>
              <a:t>The goal is to forecast hourly traffic volume up to 7 days ahead.</a:t>
            </a:r>
          </a:p>
          <a:p>
            <a:r>
              <a:t>Success metric: accurate out-of-sample prediction using RMSE.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Metro Interstate Traffic Volume dataset.</a:t>
            </a:r>
          </a:p>
          <a:p>
            <a:r>
              <a:t>Hourly traffic counts collected over multiple years.</a:t>
            </a:r>
          </a:p>
          <a:p>
            <a:r>
              <a:t>Includes weather variables and holiday indicators.</a:t>
            </a:r>
          </a:p>
          <a:p>
            <a:r>
              <a:t>Target variable: traffic_volume.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Wrangling –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Duplicate hourly timestamps.</a:t>
            </a:r>
          </a:p>
          <a:p>
            <a:r>
              <a:t>Missing hours.</a:t>
            </a:r>
          </a:p>
          <a:p>
            <a:r>
              <a:t>Mixed numeric and categorical features.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Wrangling – Solutions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Duplicate timestamps were identified and aggregated to one row per hour.</a:t>
            </a:r>
          </a:p>
          <a:p>
            <a:r>
              <a:t>Missing hourly intervals were explicitly introduced to ensure continuity.</a:t>
            </a:r>
          </a:p>
          <a:p>
            <a:r>
              <a:t>Time index was restructured to a complete hourly sequence.</a:t>
            </a:r>
          </a:p>
          <a:p>
            <a:r>
              <a:t>Holiday missing values were treated as non-holiday periods.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405466"/>
            <a:ext cx="8576733" cy="5325533"/>
          </a:xfrm>
        </p:spPr>
        <p:txBody>
          <a:bodyPr>
            <a:normAutofit/>
          </a:bodyPr>
          <a:lstStyle/>
          <a:p>
            <a:r>
              <a:rPr sz="2000" dirty="0"/>
              <a:t>Strong daily seasonality with clear morning and evening peaks.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1ECF7C-6413-E81D-E8C6-D9E52425E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2121154"/>
            <a:ext cx="8115300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674A4-2748-0EDA-FB5E-085B367C2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20EAF-7F40-BDB6-8247-24D97D265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24E52-FDB8-3E58-69F7-0038F5326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3866"/>
            <a:ext cx="8576733" cy="5427133"/>
          </a:xfrm>
        </p:spPr>
        <p:txBody>
          <a:bodyPr>
            <a:normAutofit/>
          </a:bodyPr>
          <a:lstStyle/>
          <a:p>
            <a:r>
              <a:rPr sz="2000" dirty="0"/>
              <a:t>Consistent weekly pattern: higher weekday traffic, lower weekends.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94F499-F9BD-45FB-31D5-A8F8EF4EE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40" y="2027936"/>
            <a:ext cx="668655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472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– Weather &amp; Holidays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337630"/>
            <a:ext cx="6347714" cy="5178066"/>
          </a:xfrm>
        </p:spPr>
        <p:txBody>
          <a:bodyPr/>
          <a:lstStyle/>
          <a:p>
            <a:r>
              <a:rPr dirty="0"/>
              <a:t>Weather and holidays affect traffic.</a:t>
            </a:r>
          </a:p>
          <a:p>
            <a:r>
              <a:rPr dirty="0"/>
              <a:t>Effects are secondary to seasonality.</a:t>
            </a:r>
          </a:p>
          <a:p>
            <a:r>
              <a:rPr dirty="0"/>
              <a:t>Do not override core patterns.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84489A-BEC0-FFFB-4CE8-3C08C9EE6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752344"/>
            <a:ext cx="6142482" cy="37633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Preprocessing &amp; Feature Engineering</a:t>
            </a:r>
            <a:r>
              <a:rPr lang="en-US" sz="3600" dirty="0"/>
              <a:t> 1/2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Ensured evenly spaced hourly time series required for time-series models.</a:t>
            </a:r>
          </a:p>
          <a:p>
            <a:r>
              <a:t>Created </a:t>
            </a:r>
            <a:r>
              <a:rPr dirty="0"/>
              <a:t>binary holiday indicators.</a:t>
            </a:r>
          </a:p>
          <a:p>
            <a:r>
              <a:rPr dirty="0"/>
              <a:t>Prepared light and full exogenous feature sets for SARIMAX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BE88E-0476-5652-AB4D-5F37516CE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2CD02-15CB-0DCE-577A-1B0CB1E8E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Preprocessing &amp; Feature Engineering</a:t>
            </a:r>
            <a:r>
              <a:rPr lang="en-US" sz="3600" dirty="0"/>
              <a:t> 2/2</a:t>
            </a:r>
            <a:endParaRPr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59821-CA77-3EDF-A9BE-7D29A7FE0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2160590"/>
            <a:ext cx="7016497" cy="3880773"/>
          </a:xfrm>
        </p:spPr>
        <p:txBody>
          <a:bodyPr>
            <a:normAutofit/>
          </a:bodyPr>
          <a:lstStyle/>
          <a:p>
            <a:r>
              <a:rPr lang="en-US" sz="2000" dirty="0"/>
              <a:t>Engineered a binary holiday indicator.</a:t>
            </a:r>
          </a:p>
          <a:p>
            <a:r>
              <a:rPr lang="en-US" sz="2000" dirty="0"/>
              <a:t>Selected compact weather features (temperature, rain, snow, cloud cover).</a:t>
            </a:r>
          </a:p>
          <a:p>
            <a:r>
              <a:rPr lang="en-US" sz="2000" dirty="0"/>
              <a:t>Excluded high-cardinality weather descriptions to reduce noise.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Key takeaway: </a:t>
            </a:r>
          </a:p>
          <a:p>
            <a:pPr marL="0" indent="0">
              <a:buNone/>
            </a:pPr>
            <a:r>
              <a:rPr lang="en-US" sz="2000" dirty="0"/>
              <a:t>preprocessing ensured a clean, continuous time series, while feature engineering captured external signals without overriding core temporal patterns.</a:t>
            </a:r>
          </a:p>
        </p:txBody>
      </p:sp>
    </p:spTree>
    <p:extLst>
      <p:ext uri="{BB962C8B-B14F-4D97-AF65-F5344CB8AC3E}">
        <p14:creationId xmlns:p14="http://schemas.microsoft.com/office/powerpoint/2010/main" val="4228108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Progressive approach: baseline → SARIMA → SARIMAX.</a:t>
            </a:r>
          </a:p>
          <a:p>
            <a:r>
              <a:rPr lang="en-US" dirty="0"/>
              <a:t>Goal: test whether added complexity improves accuracy.</a:t>
            </a:r>
          </a:p>
          <a:p>
            <a:r>
              <a:rPr lang="en-US" dirty="0"/>
              <a:t>Models evaluated using consistent time-based split.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7007353" cy="3880773"/>
          </a:xfrm>
        </p:spPr>
        <p:txBody>
          <a:bodyPr/>
          <a:lstStyle/>
          <a:p>
            <a:r>
              <a:rPr dirty="0"/>
              <a:t>Seasonal Naive Baseline (same hour, one week earlier).</a:t>
            </a:r>
          </a:p>
          <a:p>
            <a:r>
              <a:rPr dirty="0"/>
              <a:t>SARIMA without seasonality.</a:t>
            </a:r>
          </a:p>
          <a:p>
            <a:r>
              <a:rPr dirty="0"/>
              <a:t>SARIMA with daily seasonality.</a:t>
            </a:r>
          </a:p>
          <a:p>
            <a:r>
              <a:rPr dirty="0"/>
              <a:t>SARIMAX with full exogenous features (no seasonality).</a:t>
            </a:r>
          </a:p>
          <a:p>
            <a:r>
              <a:rPr dirty="0"/>
              <a:t>SARIMAX with daily seasonality and light exogenous features.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(RMSE)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6760465" cy="3880773"/>
          </a:xfrm>
        </p:spPr>
        <p:txBody>
          <a:bodyPr/>
          <a:lstStyle/>
          <a:p>
            <a:r>
              <a:rPr dirty="0"/>
              <a:t>Seasonal Naive Baseline: RMSE ≈ 646 (best).</a:t>
            </a:r>
          </a:p>
          <a:p>
            <a:r>
              <a:rPr dirty="0"/>
              <a:t>SARIMA (No Seasonality): RMSE ≈ 3858 (worst).</a:t>
            </a:r>
          </a:p>
          <a:p>
            <a:r>
              <a:rPr dirty="0"/>
              <a:t>SARIMA (Daily Seasonality): RMSE ≈ 983.</a:t>
            </a:r>
          </a:p>
          <a:p>
            <a:r>
              <a:rPr dirty="0"/>
              <a:t>SARIMAX (Full Exogenous, No Seasonality): RMSE ≈ 2015.</a:t>
            </a:r>
          </a:p>
          <a:p>
            <a:r>
              <a:rPr dirty="0"/>
              <a:t>SARIMAX (Daily Seasonality + Light Exogenous): RMSE ≈ 958.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seasonal naive baseline achieved the lowest RMSE.</a:t>
            </a:r>
          </a:p>
          <a:p>
            <a:r>
              <a:t>More complex models did not improve accuracy.</a:t>
            </a:r>
          </a:p>
          <a:p>
            <a:r>
              <a:t>Seasonality alone explains most traffic behavior.</a:t>
            </a:r>
          </a:p>
          <a:p>
            <a:r>
              <a:t>The baseline model was selected as the final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50"/>
            <a:ext cx="8229600" cy="1143000"/>
          </a:xfrm>
        </p:spPr>
        <p:txBody>
          <a:bodyPr/>
          <a:lstStyle/>
          <a:p>
            <a:r>
              <a:rPr dirty="0"/>
              <a:t>Final Model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072" y="1417320"/>
            <a:ext cx="8229600" cy="5412930"/>
          </a:xfrm>
        </p:spPr>
        <p:txBody>
          <a:bodyPr>
            <a:normAutofit/>
          </a:bodyPr>
          <a:lstStyle/>
          <a:p>
            <a:r>
              <a:rPr sz="2000" dirty="0"/>
              <a:t>Generated a real 7-day hourly forecast beyond the dataset.</a:t>
            </a:r>
          </a:p>
          <a:p>
            <a:r>
              <a:rPr sz="2000" dirty="0"/>
              <a:t>Forecast preserves daily and weekly patterns.</a:t>
            </a:r>
          </a:p>
          <a:p>
            <a:r>
              <a:rPr sz="2000" dirty="0"/>
              <a:t>No artificial trend or instability introduced.</a:t>
            </a:r>
          </a:p>
          <a:p>
            <a:r>
              <a:rPr sz="2000" dirty="0"/>
              <a:t>Results are interpretable and operationally reliable.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C319E8-B9EC-DDF0-8BC5-8330D9FF4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" y="3429000"/>
            <a:ext cx="8330184" cy="29659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the seasonal baseline model for short-term traffic planning.</a:t>
            </a:r>
          </a:p>
          <a:p>
            <a:r>
              <a:t>Schedule staffing and congestion mitigation around predictable peak hours.</a:t>
            </a:r>
          </a:p>
          <a:p>
            <a:r>
              <a:t>Use weather and holidays as monitoring signals, not core forecast drivers.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Baseline model assumes stable seasonal patterns.</a:t>
            </a:r>
          </a:p>
          <a:p>
            <a:r>
              <a:rPr dirty="0"/>
              <a:t>Does not adapt to structural changes or rare events.</a:t>
            </a:r>
          </a:p>
          <a:p>
            <a:r>
              <a:rPr dirty="0"/>
              <a:t>Future work could </a:t>
            </a:r>
            <a:r>
              <a:t>explore event-based </a:t>
            </a:r>
            <a:r>
              <a:rPr dirty="0"/>
              <a:t>modeling.</a:t>
            </a:r>
          </a:p>
          <a:p>
            <a:r>
              <a:rPr dirty="0"/>
              <a:t>Integration with real-time data could improve responsiveness.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68</TotalTime>
  <Words>565</Words>
  <Application>Microsoft Office PowerPoint</Application>
  <PresentationFormat>On-screen Show (4:3)</PresentationFormat>
  <Paragraphs>76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Trebuchet MS</vt:lpstr>
      <vt:lpstr>Wingdings 3</vt:lpstr>
      <vt:lpstr>Facet</vt:lpstr>
      <vt:lpstr>Hourly Traffic Volume Forecasting</vt:lpstr>
      <vt:lpstr>Problem Statement</vt:lpstr>
      <vt:lpstr>Dataset Overview</vt:lpstr>
      <vt:lpstr>Data Wrangling – Issues</vt:lpstr>
      <vt:lpstr>Data Wrangling – Solutions</vt:lpstr>
      <vt:lpstr>Exploratory Data Analysis</vt:lpstr>
      <vt:lpstr>Exploratory Data Analysis</vt:lpstr>
      <vt:lpstr>EDA – Weather &amp; Holidays</vt:lpstr>
      <vt:lpstr>Preprocessing &amp; Feature Engineering 1/2</vt:lpstr>
      <vt:lpstr>Preprocessing &amp; Feature Engineering 2/2</vt:lpstr>
      <vt:lpstr>Modeling Strategy</vt:lpstr>
      <vt:lpstr>Models Implemented</vt:lpstr>
      <vt:lpstr>Model Performance (RMSE)</vt:lpstr>
      <vt:lpstr>Final Model Selection</vt:lpstr>
      <vt:lpstr>Final Model Application</vt:lpstr>
      <vt:lpstr>Business Recommendations</vt:lpstr>
      <vt:lpstr>Limitations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Wen Yang</cp:lastModifiedBy>
  <cp:revision>4</cp:revision>
  <dcterms:created xsi:type="dcterms:W3CDTF">2013-01-27T09:14:16Z</dcterms:created>
  <dcterms:modified xsi:type="dcterms:W3CDTF">2026-01-03T01:03:58Z</dcterms:modified>
  <cp:category/>
</cp:coreProperties>
</file>