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D007F-DA3F-44DA-8CF2-576116A8969E}" v="36" dt="2025-10-12T20:36:46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 Yang" userId="9a67e1c7-7f7e-48ff-ba69-53075482e7fa" providerId="ADAL" clId="{3C970762-2DA6-4651-B3BA-561B7BC000D8}"/>
    <pc:docChg chg="undo custSel addSld delSld modSld">
      <pc:chgData name="Wen Yang" userId="9a67e1c7-7f7e-48ff-ba69-53075482e7fa" providerId="ADAL" clId="{3C970762-2DA6-4651-B3BA-561B7BC000D8}" dt="2025-10-12T21:00:05.629" v="137" actId="20577"/>
      <pc:docMkLst>
        <pc:docMk/>
      </pc:docMkLst>
      <pc:sldChg chg="addSp modSp mod">
        <pc:chgData name="Wen Yang" userId="9a67e1c7-7f7e-48ff-ba69-53075482e7fa" providerId="ADAL" clId="{3C970762-2DA6-4651-B3BA-561B7BC000D8}" dt="2025-10-12T21:00:05.629" v="137" actId="20577"/>
        <pc:sldMkLst>
          <pc:docMk/>
          <pc:sldMk cId="0" sldId="256"/>
        </pc:sldMkLst>
        <pc:spChg chg="add">
          <ac:chgData name="Wen Yang" userId="9a67e1c7-7f7e-48ff-ba69-53075482e7fa" providerId="ADAL" clId="{3C970762-2DA6-4651-B3BA-561B7BC000D8}" dt="2025-10-12T16:16:55.622" v="4"/>
          <ac:spMkLst>
            <pc:docMk/>
            <pc:sldMk cId="0" sldId="256"/>
            <ac:spMk id="2" creationId="{11C34079-E451-EA8A-8EED-F7813DBC5C3A}"/>
          </ac:spMkLst>
        </pc:spChg>
        <pc:spChg chg="add">
          <ac:chgData name="Wen Yang" userId="9a67e1c7-7f7e-48ff-ba69-53075482e7fa" providerId="ADAL" clId="{3C970762-2DA6-4651-B3BA-561B7BC000D8}" dt="2025-10-12T16:17:03.225" v="6"/>
          <ac:spMkLst>
            <pc:docMk/>
            <pc:sldMk cId="0" sldId="256"/>
            <ac:spMk id="3" creationId="{468293D5-64AD-2FC0-0022-5AB257BD85D8}"/>
          </ac:spMkLst>
        </pc:spChg>
        <pc:spChg chg="add">
          <ac:chgData name="Wen Yang" userId="9a67e1c7-7f7e-48ff-ba69-53075482e7fa" providerId="ADAL" clId="{3C970762-2DA6-4651-B3BA-561B7BC000D8}" dt="2025-10-12T20:16:38.069" v="25"/>
          <ac:spMkLst>
            <pc:docMk/>
            <pc:sldMk cId="0" sldId="256"/>
            <ac:spMk id="4" creationId="{F481E904-43CC-BF37-3E1D-AA30B64C48ED}"/>
          </ac:spMkLst>
        </pc:spChg>
        <pc:spChg chg="mod">
          <ac:chgData name="Wen Yang" userId="9a67e1c7-7f7e-48ff-ba69-53075482e7fa" providerId="ADAL" clId="{3C970762-2DA6-4651-B3BA-561B7BC000D8}" dt="2025-10-12T20:36:41.279" v="112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59:42.707" v="132" actId="20577"/>
          <ac:spMkLst>
            <pc:docMk/>
            <pc:sldMk cId="0" sldId="256"/>
            <ac:spMk id="25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5:58.950" v="109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9:52.712" v="115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1:00:05.629" v="137" actId="2057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0:49.205" v="96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1:07.256" v="99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5:51.496" v="108" actId="14100"/>
          <ac:spMkLst>
            <pc:docMk/>
            <pc:sldMk cId="0" sldId="256"/>
            <ac:spMk id="34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40:25.202" v="129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4:55.534" v="106" actId="2057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47:19.871" v="130" actId="108"/>
          <ac:spMkLst>
            <pc:docMk/>
            <pc:sldMk cId="0" sldId="256"/>
            <ac:spMk id="37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1:34.859" v="102" actId="108"/>
          <ac:spMkLst>
            <pc:docMk/>
            <pc:sldMk cId="0" sldId="256"/>
            <ac:spMk id="38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20:31:26.119" v="101" actId="108"/>
          <ac:spMkLst>
            <pc:docMk/>
            <pc:sldMk cId="0" sldId="256"/>
            <ac:spMk id="47" creationId="{00000000-0000-0000-0000-000000000000}"/>
          </ac:spMkLst>
        </pc:spChg>
        <pc:spChg chg="mod">
          <ac:chgData name="Wen Yang" userId="9a67e1c7-7f7e-48ff-ba69-53075482e7fa" providerId="ADAL" clId="{3C970762-2DA6-4651-B3BA-561B7BC000D8}" dt="2025-10-12T16:12:40.542" v="3"/>
          <ac:spMkLst>
            <pc:docMk/>
            <pc:sldMk cId="0" sldId="256"/>
            <ac:spMk id="48" creationId="{00000000-0000-0000-0000-000000000000}"/>
          </ac:spMkLst>
        </pc:spChg>
      </pc:sldChg>
      <pc:sldChg chg="addSp delSp modSp new del mod">
        <pc:chgData name="Wen Yang" userId="9a67e1c7-7f7e-48ff-ba69-53075482e7fa" providerId="ADAL" clId="{3C970762-2DA6-4651-B3BA-561B7BC000D8}" dt="2025-10-12T20:53:49.949" v="131" actId="47"/>
        <pc:sldMkLst>
          <pc:docMk/>
          <pc:sldMk cId="4261076188" sldId="257"/>
        </pc:sldMkLst>
        <pc:spChg chg="del mod">
          <ac:chgData name="Wen Yang" userId="9a67e1c7-7f7e-48ff-ba69-53075482e7fa" providerId="ADAL" clId="{3C970762-2DA6-4651-B3BA-561B7BC000D8}" dt="2025-10-12T20:11:47.874" v="20" actId="478"/>
          <ac:spMkLst>
            <pc:docMk/>
            <pc:sldMk cId="4261076188" sldId="257"/>
            <ac:spMk id="2" creationId="{00339A43-E1B4-44C4-A769-16904846C20D}"/>
          </ac:spMkLst>
        </pc:spChg>
        <pc:spChg chg="add del mod">
          <ac:chgData name="Wen Yang" userId="9a67e1c7-7f7e-48ff-ba69-53075482e7fa" providerId="ADAL" clId="{3C970762-2DA6-4651-B3BA-561B7BC000D8}" dt="2025-10-12T20:11:32.052" v="17" actId="478"/>
          <ac:spMkLst>
            <pc:docMk/>
            <pc:sldMk cId="4261076188" sldId="257"/>
            <ac:spMk id="3" creationId="{FF3B4343-A3BF-AF5F-5531-79CF6F42EC6E}"/>
          </ac:spMkLst>
        </pc:spChg>
        <pc:spChg chg="add del mod">
          <ac:chgData name="Wen Yang" userId="9a67e1c7-7f7e-48ff-ba69-53075482e7fa" providerId="ADAL" clId="{3C970762-2DA6-4651-B3BA-561B7BC000D8}" dt="2025-10-12T20:16:50.118" v="27" actId="478"/>
          <ac:spMkLst>
            <pc:docMk/>
            <pc:sldMk cId="4261076188" sldId="257"/>
            <ac:spMk id="4" creationId="{6D4FC30B-4B46-4567-1DA8-ECB048ABEC37}"/>
          </ac:spMkLst>
        </pc:spChg>
        <pc:spChg chg="add del mod">
          <ac:chgData name="Wen Yang" userId="9a67e1c7-7f7e-48ff-ba69-53075482e7fa" providerId="ADAL" clId="{3C970762-2DA6-4651-B3BA-561B7BC000D8}" dt="2025-10-12T20:18:50.032" v="33" actId="478"/>
          <ac:spMkLst>
            <pc:docMk/>
            <pc:sldMk cId="4261076188" sldId="257"/>
            <ac:spMk id="5" creationId="{692AC52D-F34C-C40F-41C0-C574678D2A08}"/>
          </ac:spMkLst>
        </pc:spChg>
        <pc:spChg chg="add del mod">
          <ac:chgData name="Wen Yang" userId="9a67e1c7-7f7e-48ff-ba69-53075482e7fa" providerId="ADAL" clId="{3C970762-2DA6-4651-B3BA-561B7BC000D8}" dt="2025-10-12T20:21:48.202" v="38" actId="478"/>
          <ac:spMkLst>
            <pc:docMk/>
            <pc:sldMk cId="4261076188" sldId="257"/>
            <ac:spMk id="6" creationId="{AA33BEB3-46BE-65C7-D3A6-20935129F635}"/>
          </ac:spMkLst>
        </pc:spChg>
        <pc:spChg chg="add mod">
          <ac:chgData name="Wen Yang" userId="9a67e1c7-7f7e-48ff-ba69-53075482e7fa" providerId="ADAL" clId="{3C970762-2DA6-4651-B3BA-561B7BC000D8}" dt="2025-10-12T20:21:58.329" v="42" actId="688"/>
          <ac:spMkLst>
            <pc:docMk/>
            <pc:sldMk cId="4261076188" sldId="257"/>
            <ac:spMk id="7" creationId="{A7B8797C-85CF-F194-5526-2A059A2C6136}"/>
          </ac:spMkLst>
        </pc:spChg>
      </pc:sldChg>
    </pc:docChg>
  </pc:docChgLst>
  <pc:docChgLst>
    <pc:chgData name="Wen Yang" userId="9a67e1c7-7f7e-48ff-ba69-53075482e7fa" providerId="ADAL" clId="{F0BFFCA1-6CDC-46FC-A784-3436B535B987}"/>
    <pc:docChg chg="undo custSel addSld delSld modSld">
      <pc:chgData name="Wen Yang" userId="9a67e1c7-7f7e-48ff-ba69-53075482e7fa" providerId="ADAL" clId="{F0BFFCA1-6CDC-46FC-A784-3436B535B987}" dt="2025-08-22T08:03:15.072" v="2907" actId="20577"/>
      <pc:docMkLst>
        <pc:docMk/>
      </pc:docMkLst>
      <pc:sldChg chg="addSp modSp mod">
        <pc:chgData name="Wen Yang" userId="9a67e1c7-7f7e-48ff-ba69-53075482e7fa" providerId="ADAL" clId="{F0BFFCA1-6CDC-46FC-A784-3436B535B987}" dt="2025-08-22T08:03:15.072" v="2907" actId="20577"/>
        <pc:sldMkLst>
          <pc:docMk/>
          <pc:sldMk cId="0" sldId="256"/>
        </pc:sldMkLst>
      </pc:sldChg>
      <pc:sldChg chg="addSp delSp modSp new del mod">
        <pc:chgData name="Wen Yang" userId="9a67e1c7-7f7e-48ff-ba69-53075482e7fa" providerId="ADAL" clId="{F0BFFCA1-6CDC-46FC-A784-3436B535B987}" dt="2025-08-21T19:03:52.725" v="2882" actId="2696"/>
        <pc:sldMkLst>
          <pc:docMk/>
          <pc:sldMk cId="88798224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Hypothesis: </a:t>
            </a:r>
            <a:r>
              <a:rPr lang="en-AU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lang="en-AU" sz="12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200" b="1" i="1"/>
              <a:t>S – Specific, M – Measurable, A – Achievable, R – Realistic, T – Timebound). </a:t>
            </a:r>
            <a:r>
              <a:rPr lang="en-AU" sz="1200" b="0" i="0"/>
              <a:t>If you cannot do this, you </a:t>
            </a:r>
            <a:r>
              <a:rPr lang="en-AU" sz="1200" b="1" i="0"/>
              <a:t>do not</a:t>
            </a:r>
            <a:r>
              <a:rPr lang="en-AU" sz="1200" b="0" i="0"/>
              <a:t> have a good grasp on the business problem.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Context: </a:t>
            </a:r>
            <a:r>
              <a:rPr lang="en-AU" sz="1200"/>
              <a:t>With context, we have </a:t>
            </a:r>
            <a:r>
              <a:rPr lang="en-AU" sz="1200" b="1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Criteria for Success</a:t>
            </a:r>
            <a:r>
              <a:rPr lang="en-AU" b="0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Scope of Solution Space: </a:t>
            </a:r>
            <a:r>
              <a:rPr lang="en-AU" b="0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Constraints within Solution Space: </a:t>
            </a:r>
            <a:r>
              <a:rPr lang="en-AU" b="0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Stakeholders to provide key insight: </a:t>
            </a:r>
            <a:r>
              <a:rPr lang="en-AU" b="0"/>
              <a:t>Who are the people I need to speak to, to get the answers I need for my data analysis?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What key data sources are required</a:t>
            </a:r>
            <a:r>
              <a:rPr lang="en-AU" b="0"/>
              <a:t>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0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02012" y="155788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8375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99198" y="3794713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2796" y="3821341"/>
            <a:ext cx="1648229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50634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18936" y="5015492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84698" y="5056648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43108" y="1964976"/>
            <a:ext cx="4324418" cy="17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000" dirty="0"/>
              <a:t>Accurate traffic volume forecasting is essential for city planners, transportation agencies, and commuters to manage congestion, improve road safety, and plan infrastructure.</a:t>
            </a:r>
            <a:br>
              <a:rPr lang="en-US" sz="1000" dirty="0"/>
            </a:br>
            <a:r>
              <a:rPr lang="en-US" sz="1000" dirty="0"/>
              <a:t>The </a:t>
            </a:r>
            <a:r>
              <a:rPr lang="en-US" sz="1000" b="1" dirty="0"/>
              <a:t>Metro Interstate Traffic Volume dataset (2012–2018)</a:t>
            </a:r>
            <a:r>
              <a:rPr lang="en-US" sz="1000" dirty="0"/>
              <a:t> records hourly traffic counts for westbound I-94, along with corresponding weather conditions and holiday indicators.</a:t>
            </a:r>
            <a:br>
              <a:rPr lang="en-US" sz="1000" dirty="0"/>
            </a:br>
            <a:r>
              <a:rPr lang="en-US" sz="1000" dirty="0"/>
              <a:t>Understanding how variables such as temperature, precipitation, cloud cover, and time of day impact traffic can help authorities anticipate congestion, plan road maintenance, and optimize travel advisories.</a:t>
            </a:r>
            <a:br>
              <a:rPr lang="en-US" sz="1000" dirty="0"/>
            </a:br>
            <a:r>
              <a:rPr lang="en-US" sz="1000" dirty="0"/>
              <a:t>A data-driven analysis will reveal patterns and support more effective traffic management strategies.</a:t>
            </a:r>
          </a:p>
        </p:txBody>
      </p:sp>
      <p:sp>
        <p:nvSpPr>
          <p:cNvPr id="35" name="Google Shape;35;p1"/>
          <p:cNvSpPr txBox="1"/>
          <p:nvPr/>
        </p:nvSpPr>
        <p:spPr>
          <a:xfrm>
            <a:off x="121750" y="4179320"/>
            <a:ext cx="4324418" cy="71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dirty="0"/>
              <a:t> Build a predictive model that accurately estimates hourly traffic volume.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b="1" dirty="0"/>
              <a:t> </a:t>
            </a:r>
            <a:r>
              <a:rPr lang="en-US" sz="1000" dirty="0"/>
              <a:t>Identify the most significant predictors of traffic flow.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b="1" dirty="0"/>
              <a:t> </a:t>
            </a:r>
            <a:r>
              <a:rPr lang="en-US" sz="1000" dirty="0"/>
              <a:t>Evaluate model performance using appropriate statistical metrics.</a:t>
            </a:r>
            <a:endParaRPr lang="en-US" sz="1000" b="1" dirty="0"/>
          </a:p>
        </p:txBody>
      </p:sp>
      <p:sp>
        <p:nvSpPr>
          <p:cNvPr id="36" name="Google Shape;36;p1"/>
          <p:cNvSpPr txBox="1"/>
          <p:nvPr/>
        </p:nvSpPr>
        <p:spPr>
          <a:xfrm>
            <a:off x="157687" y="5305514"/>
            <a:ext cx="4324418" cy="84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dirty="0"/>
              <a:t> Focus on data from 2012–2018.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dirty="0"/>
              <a:t> Analyze relationships between traffic volume, weather, and temporal variables (e.g., hour, weekday, season, holiday).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dirty="0"/>
              <a:t> Exclude external influences not included in the dataset (e.g., construction, accidents, or policy changes).</a:t>
            </a:r>
          </a:p>
        </p:txBody>
      </p:sp>
      <p:sp>
        <p:nvSpPr>
          <p:cNvPr id="37" name="Google Shape;37;p1"/>
          <p:cNvSpPr txBox="1"/>
          <p:nvPr/>
        </p:nvSpPr>
        <p:spPr>
          <a:xfrm>
            <a:off x="4558232" y="1963919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dirty="0"/>
              <a:t> Dataset limited to a single location and one direction (westbound I-94).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NL" sz="1000" dirty="0"/>
              <a:t> </a:t>
            </a:r>
            <a:r>
              <a:rPr lang="en-US" sz="1000" dirty="0"/>
              <a:t>Missing or anomalous values (e.g., extreme weather readings) may affect model accuracy.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NL" sz="1000" dirty="0"/>
              <a:t> </a:t>
            </a:r>
            <a:r>
              <a:rPr lang="en-US" sz="1000" dirty="0"/>
              <a:t>Unobserved variables such as traffic incidents or lane closures are not captured.</a:t>
            </a:r>
            <a:endParaRPr lang="en-NL" altLang="en-NL" sz="1000" dirty="0"/>
          </a:p>
        </p:txBody>
      </p:sp>
      <p:sp>
        <p:nvSpPr>
          <p:cNvPr id="38" name="Google Shape;38;p1"/>
          <p:cNvSpPr txBox="1"/>
          <p:nvPr/>
        </p:nvSpPr>
        <p:spPr>
          <a:xfrm>
            <a:off x="4590928" y="5085174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1000" b="1" dirty="0"/>
              <a:t>Metro Interstate Traffic Volume Dataset (2012–2018):</a:t>
            </a:r>
            <a:r>
              <a:rPr lang="en-US" sz="1000" dirty="0"/>
              <a:t> Includes features such as </a:t>
            </a:r>
            <a:r>
              <a:rPr lang="en-US" sz="1000" i="1" dirty="0"/>
              <a:t>temp, rain 1h, snow 1h, clouds all, weather main, weather description, holiday, date time,</a:t>
            </a:r>
            <a:r>
              <a:rPr lang="en-US" sz="1000" dirty="0"/>
              <a:t> and the target variable </a:t>
            </a:r>
            <a:r>
              <a:rPr lang="en-US" sz="1000" i="1" dirty="0"/>
              <a:t>traffic volume.</a:t>
            </a:r>
            <a:endParaRPr lang="en-NL" altLang="en-NL" sz="1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1750" y="116631"/>
            <a:ext cx="7724912" cy="1137079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Worksheet (Hypothesis Formation)</a:t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4607126" y="3547600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NL" sz="1000" dirty="0"/>
              <a:t> </a:t>
            </a:r>
            <a:r>
              <a:rPr lang="en-US" sz="1000" b="1" dirty="0"/>
              <a:t>Transportation Authorities / City Planners:</a:t>
            </a:r>
            <a:r>
              <a:rPr lang="en-US" sz="1000" dirty="0"/>
              <a:t> Use traffic predictions to optimize road maintenance and public transport schedules.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NL" sz="1000" dirty="0"/>
              <a:t> </a:t>
            </a:r>
            <a:r>
              <a:rPr lang="en-US" sz="1000" b="1" dirty="0"/>
              <a:t>Commuters and Logistics Companies:</a:t>
            </a:r>
            <a:r>
              <a:rPr lang="en-US" sz="1000" dirty="0"/>
              <a:t> Benefit from better congestion forecasting and route planning.</a:t>
            </a:r>
          </a:p>
        </p:txBody>
      </p:sp>
      <p:sp>
        <p:nvSpPr>
          <p:cNvPr id="48" name="Google Shape;48;p1"/>
          <p:cNvSpPr txBox="1"/>
          <p:nvPr/>
        </p:nvSpPr>
        <p:spPr>
          <a:xfrm>
            <a:off x="184140" y="540901"/>
            <a:ext cx="76625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400"/>
            </a:pPr>
            <a:r>
              <a:rPr lang="en-US" sz="1000" i="1" dirty="0"/>
              <a:t>How can historical weather and holiday data be used to predict hourly traffic volume, and what are the key environmental and temporal factors that most influence traffic flow patterns?</a:t>
            </a:r>
            <a:endParaRPr lang="en-US" sz="1000" dirty="0"/>
          </a:p>
          <a:p>
            <a:pPr lvl="0">
              <a:buSzPts val="1400"/>
            </a:pP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673</Words>
  <Application>Microsoft Office PowerPoint</Application>
  <PresentationFormat>On-screen Show (4:3)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Quattrocento Sans</vt:lpstr>
      <vt:lpstr>Synergy_CF_YNR002</vt:lpstr>
      <vt:lpstr>Problem Statement Worksheet (Hypothesis Formation)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Wen Yang</cp:lastModifiedBy>
  <cp:revision>3</cp:revision>
  <dcterms:modified xsi:type="dcterms:W3CDTF">2025-12-28T22:19:48Z</dcterms:modified>
</cp:coreProperties>
</file>